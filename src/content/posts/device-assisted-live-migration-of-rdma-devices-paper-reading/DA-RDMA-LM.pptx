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  <p:sldId id="264" r:id="rId9"/>
    <p:sldId id="265" r:id="rId10"/>
    <p:sldId id="267" r:id="rId11"/>
    <p:sldId id="266" r:id="rId12"/>
    <p:sldId id="268" r:id="rId13"/>
    <p:sldId id="269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1B9"/>
    <a:srgbClr val="E7E9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3" autoAdjust="0"/>
    <p:restoredTop sz="76190" autoAdjust="0"/>
  </p:normalViewPr>
  <p:slideViewPr>
    <p:cSldViewPr snapToGrid="0">
      <p:cViewPr varScale="1">
        <p:scale>
          <a:sx n="93" d="100"/>
          <a:sy n="93" d="100"/>
        </p:scale>
        <p:origin x="115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83E411-D1CD-4D8D-92C9-C20374296A66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F72F05-58C4-492E-9F7F-9E341B5E1C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0490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今天我带来的是</a:t>
            </a:r>
            <a:r>
              <a:rPr lang="en-US" altLang="zh-CN" dirty="0"/>
              <a:t>SOSP2025</a:t>
            </a:r>
            <a:r>
              <a:rPr lang="zh-CN" altLang="en-US" dirty="0"/>
              <a:t>的一篇文章，</a:t>
            </a:r>
            <a:r>
              <a:rPr lang="en-US" altLang="zh-CN" dirty="0"/>
              <a:t>device assisted live migration of RDMA devices</a:t>
            </a:r>
          </a:p>
          <a:p>
            <a:r>
              <a:rPr lang="zh-CN" altLang="en-US" dirty="0"/>
              <a:t>讲的是</a:t>
            </a:r>
            <a:r>
              <a:rPr lang="en-US" altLang="zh-CN" dirty="0"/>
              <a:t>RDMA</a:t>
            </a:r>
            <a:r>
              <a:rPr lang="zh-CN" altLang="en-US" dirty="0"/>
              <a:t>设备的热迁移的。而且</a:t>
            </a:r>
            <a:r>
              <a:rPr lang="en-US" altLang="zh-CN" dirty="0"/>
              <a:t>RDMA</a:t>
            </a:r>
            <a:r>
              <a:rPr lang="zh-CN" altLang="en-US" dirty="0"/>
              <a:t>设备也是一个“带状态的设备”</a:t>
            </a:r>
            <a:endParaRPr lang="en-US" altLang="zh-CN" dirty="0"/>
          </a:p>
          <a:p>
            <a:r>
              <a:rPr lang="zh-CN" altLang="en-US" dirty="0"/>
              <a:t>我感觉这篇文章对于我们现在的</a:t>
            </a:r>
            <a:r>
              <a:rPr lang="en-US" altLang="zh-CN" dirty="0" err="1"/>
              <a:t>vKAE</a:t>
            </a:r>
            <a:r>
              <a:rPr lang="zh-CN" altLang="en-US" dirty="0"/>
              <a:t>项目还是有一定程度的关联，所以就选择了这篇。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F72F05-58C4-492E-9F7F-9E341B5E1C7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5007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关于</a:t>
            </a:r>
            <a:r>
              <a:rPr lang="en-US" altLang="zh-CN" dirty="0"/>
              <a:t>RDMA</a:t>
            </a:r>
            <a:r>
              <a:rPr lang="zh-CN" altLang="en-US" dirty="0"/>
              <a:t>的热迁移的工作，其实过去已经有过一些。但是在过去的工作中，有一些软件实现的方式，比如说这篇，</a:t>
            </a:r>
            <a:r>
              <a:rPr lang="en-US" altLang="zh-CN" dirty="0"/>
              <a:t>software-based live migration</a:t>
            </a:r>
            <a:r>
              <a:rPr lang="zh-CN" altLang="en-US" dirty="0"/>
              <a:t>，这篇文章潘博已经给潘博了。下周的时候他会来具体介绍。不过像这样的方式，会在一些关键数据路径上引入额外的开销。</a:t>
            </a:r>
            <a:endParaRPr lang="en-US" altLang="zh-CN" dirty="0"/>
          </a:p>
          <a:p>
            <a:r>
              <a:rPr lang="zh-CN" altLang="en-US" dirty="0"/>
              <a:t>另外的一些工作，还有诸如</a:t>
            </a:r>
            <a:r>
              <a:rPr lang="en-US" altLang="zh-CN" dirty="0" err="1"/>
              <a:t>MigrOS</a:t>
            </a:r>
            <a:r>
              <a:rPr lang="zh-CN" altLang="en-US" dirty="0"/>
              <a:t>，但是却依赖于非标准的</a:t>
            </a:r>
            <a:r>
              <a:rPr lang="en-US" altLang="zh-CN" dirty="0"/>
              <a:t>RDMA API</a:t>
            </a:r>
          </a:p>
          <a:p>
            <a:r>
              <a:rPr lang="zh-CN" altLang="en-US" dirty="0"/>
              <a:t>而且以上的工作，都需要去修改租户的软件栈，而一般来说，云厂商是无法触及用户软件栈的。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而在本工作中，他们提出了一系列的硬件支持的</a:t>
            </a:r>
            <a:r>
              <a:rPr lang="en-US" altLang="zh-CN" dirty="0"/>
              <a:t>API</a:t>
            </a:r>
            <a:r>
              <a:rPr lang="zh-CN" altLang="en-US" dirty="0"/>
              <a:t>，用于辅助热迁移。从而成功实现了对于网络中的其它</a:t>
            </a:r>
            <a:r>
              <a:rPr lang="en-US" altLang="zh-CN" dirty="0"/>
              <a:t>peers</a:t>
            </a:r>
            <a:r>
              <a:rPr lang="zh-CN" altLang="en-US" dirty="0"/>
              <a:t>和用户软件都透明的，并且不会带来任何其它的性能下降或运行时开销。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F72F05-58C4-492E-9F7F-9E341B5E1C7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75518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那么首先我们来简单说明一下</a:t>
            </a:r>
            <a:r>
              <a:rPr lang="en-US" altLang="zh-CN" dirty="0"/>
              <a:t>RDMA</a:t>
            </a:r>
            <a:r>
              <a:rPr lang="zh-CN" altLang="en-US" dirty="0"/>
              <a:t>中的部分内容。</a:t>
            </a:r>
            <a:endParaRPr lang="en-US" altLang="zh-CN" dirty="0"/>
          </a:p>
          <a:p>
            <a:r>
              <a:rPr lang="zh-CN" altLang="en-US" dirty="0"/>
              <a:t>在</a:t>
            </a:r>
            <a:r>
              <a:rPr lang="en-US" altLang="zh-CN" dirty="0"/>
              <a:t>RDMA</a:t>
            </a:r>
            <a:r>
              <a:rPr lang="zh-CN" altLang="en-US" dirty="0"/>
              <a:t>中，</a:t>
            </a:r>
            <a:r>
              <a:rPr lang="en-US" altLang="zh-CN" dirty="0"/>
              <a:t>IB Verbs</a:t>
            </a:r>
            <a:r>
              <a:rPr lang="zh-CN" altLang="en-US" dirty="0"/>
              <a:t>可以被认为是</a:t>
            </a:r>
            <a:r>
              <a:rPr lang="en-US" altLang="zh-CN" dirty="0"/>
              <a:t>RDMA</a:t>
            </a:r>
            <a:r>
              <a:rPr lang="zh-CN" altLang="en-US" dirty="0"/>
              <a:t>事实上的</a:t>
            </a:r>
            <a:r>
              <a:rPr lang="en-US" altLang="zh-CN" dirty="0"/>
              <a:t>API</a:t>
            </a:r>
            <a:r>
              <a:rPr lang="zh-CN" altLang="en-US" dirty="0"/>
              <a:t>规范。</a:t>
            </a:r>
            <a:endParaRPr lang="en-US" altLang="zh-CN" dirty="0"/>
          </a:p>
          <a:p>
            <a:r>
              <a:rPr lang="en-US" altLang="zh-CN" dirty="0"/>
              <a:t>IB</a:t>
            </a:r>
            <a:r>
              <a:rPr lang="zh-CN" altLang="en-US" dirty="0"/>
              <a:t> </a:t>
            </a:r>
            <a:r>
              <a:rPr lang="en-US" altLang="zh-CN" dirty="0"/>
              <a:t>Verbs</a:t>
            </a:r>
            <a:r>
              <a:rPr lang="zh-CN" altLang="en-US" dirty="0"/>
              <a:t>的具体内容，就是对指定的</a:t>
            </a:r>
            <a:r>
              <a:rPr lang="en-US" altLang="zh-CN" dirty="0"/>
              <a:t>RDMA</a:t>
            </a:r>
            <a:r>
              <a:rPr lang="zh-CN" altLang="en-US" dirty="0"/>
              <a:t>对象执行操作。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RDMA</a:t>
            </a:r>
            <a:r>
              <a:rPr lang="zh-CN" altLang="en-US" dirty="0"/>
              <a:t>对象一般都在用户空间中。当要执行一次数据传输的时候，会向</a:t>
            </a:r>
            <a:r>
              <a:rPr lang="en-US" altLang="zh-CN" dirty="0"/>
              <a:t>Queue Pair</a:t>
            </a:r>
            <a:r>
              <a:rPr lang="zh-CN" altLang="en-US" dirty="0"/>
              <a:t>中添加一个</a:t>
            </a:r>
            <a:r>
              <a:rPr lang="en-US" altLang="zh-CN" dirty="0"/>
              <a:t>Work Queue Element</a:t>
            </a:r>
            <a:r>
              <a:rPr lang="zh-CN" altLang="en-US" dirty="0"/>
              <a:t>。传输完成后会在</a:t>
            </a:r>
            <a:r>
              <a:rPr lang="en-US" altLang="zh-CN" dirty="0"/>
              <a:t>Completion Queue</a:t>
            </a:r>
            <a:r>
              <a:rPr lang="zh-CN" altLang="en-US" dirty="0"/>
              <a:t>中添加一条</a:t>
            </a:r>
            <a:r>
              <a:rPr lang="en-US" altLang="zh-CN" dirty="0"/>
              <a:t>CQE,</a:t>
            </a:r>
            <a:r>
              <a:rPr lang="zh-CN" altLang="en-US" dirty="0"/>
              <a:t>轮询线程能够发现有新的条目添加，从而知道数据传输完成了。</a:t>
            </a:r>
            <a:endParaRPr lang="en-US" altLang="zh-CN" dirty="0"/>
          </a:p>
          <a:p>
            <a:r>
              <a:rPr lang="zh-CN" altLang="en-US" dirty="0"/>
              <a:t>在这里面，还有一个叫做</a:t>
            </a:r>
            <a:r>
              <a:rPr lang="en-US" altLang="zh-CN" dirty="0"/>
              <a:t>memory region</a:t>
            </a:r>
            <a:r>
              <a:rPr lang="zh-CN" altLang="en-US" dirty="0"/>
              <a:t>对象的东西，是用来把应用的内存暴露了给本地或者远程以执行</a:t>
            </a:r>
            <a:r>
              <a:rPr lang="en-US" altLang="zh-CN" dirty="0"/>
              <a:t>DMA</a:t>
            </a:r>
            <a:r>
              <a:rPr lang="zh-CN" altLang="en-US" dirty="0"/>
              <a:t>操作的。</a:t>
            </a:r>
            <a:r>
              <a:rPr lang="en-US" altLang="zh-CN" dirty="0"/>
              <a:t>MR</a:t>
            </a:r>
            <a:r>
              <a:rPr lang="zh-CN" altLang="en-US" dirty="0"/>
              <a:t>的创建过程成为</a:t>
            </a:r>
            <a:r>
              <a:rPr lang="en-US" altLang="zh-CN" dirty="0"/>
              <a:t>Memory Registration</a:t>
            </a:r>
            <a:r>
              <a:rPr lang="zh-CN" altLang="en-US" dirty="0"/>
              <a:t>，是</a:t>
            </a:r>
            <a:r>
              <a:rPr lang="en-US" altLang="zh-CN" dirty="0"/>
              <a:t>RDMA</a:t>
            </a:r>
            <a:r>
              <a:rPr lang="zh-CN" altLang="en-US" dirty="0"/>
              <a:t>中的一个开销显著的操作。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RDMA</a:t>
            </a:r>
            <a:r>
              <a:rPr lang="zh-CN" altLang="en-US" dirty="0"/>
              <a:t>命名空间可以当作是一个抽象概念，封装了一组相互依赖的</a:t>
            </a:r>
            <a:r>
              <a:rPr lang="en-US" altLang="zh-CN" dirty="0"/>
              <a:t>RDMA</a:t>
            </a:r>
            <a:r>
              <a:rPr lang="zh-CN" altLang="en-US" dirty="0"/>
              <a:t>资源对象，包括</a:t>
            </a:r>
            <a:r>
              <a:rPr lang="en-US" altLang="zh-CN" dirty="0"/>
              <a:t>QP</a:t>
            </a:r>
            <a:r>
              <a:rPr lang="zh-CN" altLang="en-US" dirty="0"/>
              <a:t>，</a:t>
            </a:r>
            <a:r>
              <a:rPr lang="en-US" altLang="zh-CN" dirty="0"/>
              <a:t>CQ</a:t>
            </a:r>
            <a:r>
              <a:rPr lang="zh-CN" altLang="en-US" dirty="0"/>
              <a:t>，</a:t>
            </a:r>
            <a:r>
              <a:rPr lang="en-US" altLang="zh-CN" dirty="0"/>
              <a:t>MR</a:t>
            </a:r>
            <a:r>
              <a:rPr lang="zh-CN" altLang="en-US" dirty="0"/>
              <a:t>等。对于</a:t>
            </a:r>
            <a:r>
              <a:rPr lang="en-US" altLang="zh-CN" dirty="0"/>
              <a:t>guest</a:t>
            </a:r>
            <a:r>
              <a:rPr lang="zh-CN" altLang="en-US" dirty="0"/>
              <a:t>内核、</a:t>
            </a:r>
            <a:r>
              <a:rPr lang="en-US" altLang="zh-CN" dirty="0"/>
              <a:t>RDMA</a:t>
            </a:r>
            <a:r>
              <a:rPr lang="zh-CN" altLang="en-US" dirty="0"/>
              <a:t>中间件，包括远程</a:t>
            </a:r>
            <a:r>
              <a:rPr lang="en-US" altLang="zh-CN" dirty="0"/>
              <a:t>peers</a:t>
            </a:r>
            <a:r>
              <a:rPr lang="zh-CN" altLang="en-US" dirty="0"/>
              <a:t>，都是可见的。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F72F05-58C4-492E-9F7F-9E341B5E1C7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28814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有了以上基础概念以后，我们就可以来详细说明一下为什么</a:t>
            </a:r>
            <a:r>
              <a:rPr lang="en-US" altLang="zh-CN" dirty="0"/>
              <a:t>RDMA</a:t>
            </a:r>
            <a:r>
              <a:rPr lang="zh-CN" altLang="en-US" dirty="0"/>
              <a:t>设备是“有状态的设备”，以及这会给热迁移带来什么样的问题。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这篇文章中，把</a:t>
            </a:r>
            <a:r>
              <a:rPr lang="en-US" altLang="zh-CN" dirty="0"/>
              <a:t>RDMA</a:t>
            </a:r>
            <a:r>
              <a:rPr lang="zh-CN" altLang="en-US" dirty="0"/>
              <a:t>的状态分为了两个大的类，分别是</a:t>
            </a:r>
            <a:r>
              <a:rPr lang="en-US" altLang="zh-CN" dirty="0"/>
              <a:t>architectural</a:t>
            </a:r>
            <a:r>
              <a:rPr lang="zh-CN" altLang="en-US" dirty="0"/>
              <a:t>级别和</a:t>
            </a:r>
            <a:r>
              <a:rPr lang="en-US" altLang="zh-CN" dirty="0"/>
              <a:t>micro-architectural</a:t>
            </a:r>
            <a:r>
              <a:rPr lang="zh-CN" altLang="en-US" dirty="0"/>
              <a:t>级别。</a:t>
            </a:r>
            <a:endParaRPr lang="en-US" altLang="zh-CN" dirty="0"/>
          </a:p>
          <a:p>
            <a:r>
              <a:rPr lang="zh-CN" altLang="en-US" dirty="0"/>
              <a:t>其中，</a:t>
            </a:r>
            <a:r>
              <a:rPr lang="en-US" altLang="zh-CN" dirty="0"/>
              <a:t>architectural</a:t>
            </a:r>
            <a:r>
              <a:rPr lang="zh-CN" altLang="en-US" dirty="0"/>
              <a:t>级别的状态，就是我们刚刚提到的，</a:t>
            </a:r>
            <a:r>
              <a:rPr lang="en-US" altLang="zh-CN" dirty="0"/>
              <a:t>RDMA namespace</a:t>
            </a:r>
            <a:r>
              <a:rPr lang="zh-CN" altLang="en-US" dirty="0"/>
              <a:t>中的一系列内容。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除此以外，</a:t>
            </a:r>
            <a:r>
              <a:rPr lang="en-US" altLang="zh-CN" dirty="0"/>
              <a:t>RDMA</a:t>
            </a:r>
            <a:r>
              <a:rPr lang="zh-CN" altLang="en-US" dirty="0"/>
              <a:t>设备可能还是一个通用型设备，比如说有的</a:t>
            </a:r>
            <a:r>
              <a:rPr lang="en-US" altLang="zh-CN" dirty="0"/>
              <a:t>RDMA</a:t>
            </a:r>
            <a:r>
              <a:rPr lang="zh-CN" altLang="en-US" dirty="0"/>
              <a:t>设备可能会被复用为以太网网卡，或者被实现了一些非标准扩展，这样会进而导致</a:t>
            </a:r>
            <a:r>
              <a:rPr lang="en-US" altLang="zh-CN" dirty="0"/>
              <a:t>RDMA</a:t>
            </a:r>
            <a:r>
              <a:rPr lang="zh-CN" altLang="en-US" dirty="0"/>
              <a:t>设备的接口、描述符格式等，都未必是一致的。在迁移的时候，也需要把这些非标准的细节内容考虑进去。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落实到具体设备上，比如说这篇论文里面用的</a:t>
            </a:r>
            <a:r>
              <a:rPr lang="en-US" altLang="zh-CN" dirty="0"/>
              <a:t>ConnectX-7</a:t>
            </a:r>
            <a:r>
              <a:rPr lang="zh-CN" altLang="en-US" dirty="0"/>
              <a:t>上，设备的状态分散在</a:t>
            </a:r>
            <a:r>
              <a:rPr lang="en-US" altLang="zh-CN" dirty="0"/>
              <a:t>VM</a:t>
            </a:r>
            <a:r>
              <a:rPr lang="zh-CN" altLang="en-US" dirty="0"/>
              <a:t>内存、</a:t>
            </a:r>
            <a:r>
              <a:rPr lang="en-US" altLang="zh-CN" dirty="0"/>
              <a:t>hypervisor</a:t>
            </a:r>
            <a:r>
              <a:rPr lang="zh-CN" altLang="en-US" dirty="0"/>
              <a:t>内存和</a:t>
            </a:r>
            <a:r>
              <a:rPr lang="en-US" altLang="zh-CN" dirty="0"/>
              <a:t>device</a:t>
            </a:r>
            <a:r>
              <a:rPr lang="zh-CN" altLang="en-US" dirty="0"/>
              <a:t>内部。其中</a:t>
            </a:r>
            <a:r>
              <a:rPr lang="en-US" altLang="zh-CN" dirty="0"/>
              <a:t>VM</a:t>
            </a:r>
            <a:r>
              <a:rPr lang="zh-CN" altLang="en-US" dirty="0"/>
              <a:t>内存中又</a:t>
            </a:r>
            <a:r>
              <a:rPr lang="en-US" altLang="zh-CN" dirty="0"/>
              <a:t>RDMA</a:t>
            </a:r>
            <a:r>
              <a:rPr lang="zh-CN" altLang="en-US" dirty="0"/>
              <a:t>的控制结构，例如命令提交条目和数据路径的描述符等。绝大部分的</a:t>
            </a:r>
            <a:r>
              <a:rPr lang="en-US" altLang="zh-CN" dirty="0"/>
              <a:t>VF</a:t>
            </a:r>
            <a:r>
              <a:rPr lang="zh-CN" altLang="en-US" dirty="0"/>
              <a:t>内部的状态是在</a:t>
            </a:r>
            <a:r>
              <a:rPr lang="en-US" altLang="zh-CN" dirty="0"/>
              <a:t>hypervisor</a:t>
            </a:r>
            <a:r>
              <a:rPr lang="zh-CN" altLang="en-US" dirty="0"/>
              <a:t>内的这个</a:t>
            </a:r>
            <a:r>
              <a:rPr lang="en-US" altLang="zh-CN" dirty="0"/>
              <a:t>Interconnect Context Memory</a:t>
            </a:r>
            <a:r>
              <a:rPr lang="zh-CN" altLang="en-US" dirty="0"/>
              <a:t>里面。具体的某一时刻的状态，如</a:t>
            </a:r>
            <a:r>
              <a:rPr lang="en-US" altLang="zh-CN" dirty="0"/>
              <a:t>doorbell</a:t>
            </a:r>
            <a:r>
              <a:rPr lang="zh-CN" altLang="en-US" dirty="0"/>
              <a:t>寄存器、传输计时器等则保存在设备中。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F72F05-58C4-492E-9F7F-9E341B5E1C7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23228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明确了</a:t>
            </a:r>
            <a:r>
              <a:rPr lang="en-US" altLang="zh-CN" dirty="0"/>
              <a:t>RDMA</a:t>
            </a:r>
            <a:r>
              <a:rPr lang="zh-CN" altLang="en-US" dirty="0"/>
              <a:t>设备的状态的相关内容之后。我们又来看看对于像</a:t>
            </a:r>
            <a:r>
              <a:rPr lang="en-US" altLang="zh-CN" dirty="0"/>
              <a:t>RDMA</a:t>
            </a:r>
            <a:r>
              <a:rPr lang="zh-CN" altLang="en-US" dirty="0"/>
              <a:t>这样的设备，相比于普通的热迁移，会有什么样的难点。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首先第一个难点就是命名空间的迁移。</a:t>
            </a:r>
            <a:r>
              <a:rPr lang="en-US" altLang="zh-CN" dirty="0"/>
              <a:t>RDMA</a:t>
            </a:r>
            <a:r>
              <a:rPr lang="zh-CN" altLang="en-US" dirty="0"/>
              <a:t>对象的标识符是由设备分配的，软件是没有办法在目标机器上精确的复制整个命名空间的。在过去的方法中，会在运行的时候，对资源标识符进行动态的翻译，但是这不仅会带来额外开销，还需要对客户机操作系统或者</a:t>
            </a:r>
            <a:r>
              <a:rPr lang="en-US" altLang="zh-CN" dirty="0"/>
              <a:t>RDMA</a:t>
            </a:r>
            <a:r>
              <a:rPr lang="zh-CN" altLang="en-US" dirty="0"/>
              <a:t>中间件进行侵入性修改。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第二个难点就是对于</a:t>
            </a:r>
            <a:r>
              <a:rPr lang="en-US" altLang="zh-CN" dirty="0"/>
              <a:t>in-flight</a:t>
            </a:r>
            <a:r>
              <a:rPr lang="zh-CN" altLang="en-US" dirty="0"/>
              <a:t>消息的处理。</a:t>
            </a:r>
            <a:endParaRPr lang="en-US" altLang="zh-CN" dirty="0"/>
          </a:p>
          <a:p>
            <a:r>
              <a:rPr lang="zh-CN" altLang="en-US" dirty="0"/>
              <a:t>在现有的方法中，要么是只能等待所有的</a:t>
            </a:r>
            <a:r>
              <a:rPr lang="en-US" altLang="zh-CN" dirty="0"/>
              <a:t>WQE</a:t>
            </a:r>
            <a:r>
              <a:rPr lang="zh-CN" altLang="en-US" dirty="0"/>
              <a:t>都执行完，然后再进行迁移。但是这显然会大大增加停机时间。</a:t>
            </a:r>
            <a:endParaRPr lang="en-US" altLang="zh-CN" dirty="0"/>
          </a:p>
          <a:p>
            <a:r>
              <a:rPr lang="zh-CN" altLang="en-US" dirty="0"/>
              <a:t>还有一种实现，是尝试对</a:t>
            </a:r>
            <a:r>
              <a:rPr lang="en-US" altLang="zh-CN" dirty="0"/>
              <a:t>QP</a:t>
            </a:r>
            <a:r>
              <a:rPr lang="zh-CN" altLang="en-US" dirty="0"/>
              <a:t>进行</a:t>
            </a:r>
            <a:r>
              <a:rPr lang="en-US" altLang="zh-CN" dirty="0"/>
              <a:t>checkpoint-restart</a:t>
            </a:r>
            <a:r>
              <a:rPr lang="zh-CN" altLang="en-US" dirty="0"/>
              <a:t>。对于</a:t>
            </a:r>
            <a:r>
              <a:rPr lang="en-US" altLang="zh-CN" dirty="0"/>
              <a:t>checkpoint</a:t>
            </a:r>
            <a:r>
              <a:rPr lang="zh-CN" altLang="en-US" dirty="0"/>
              <a:t>之后的消息就不管了，在迁移后再重新传输。但是这样的方法会做很多的无用功，毕竟一个</a:t>
            </a:r>
            <a:r>
              <a:rPr lang="en-US" altLang="zh-CN" dirty="0"/>
              <a:t>RDMA</a:t>
            </a:r>
            <a:r>
              <a:rPr lang="zh-CN" altLang="en-US" dirty="0"/>
              <a:t>操作可能涉及到的是</a:t>
            </a:r>
            <a:r>
              <a:rPr lang="en-US" altLang="zh-CN" dirty="0"/>
              <a:t>GB</a:t>
            </a:r>
            <a:r>
              <a:rPr lang="zh-CN" altLang="en-US" dirty="0"/>
              <a:t>级别的数据传输。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但是又回到我们的</a:t>
            </a:r>
            <a:r>
              <a:rPr lang="en-US" altLang="zh-CN" dirty="0" err="1"/>
              <a:t>vKAE</a:t>
            </a:r>
            <a:r>
              <a:rPr lang="zh-CN" altLang="en-US" dirty="0"/>
              <a:t>项目里面，我之前听潘博介绍下来，感觉好像潘博之前的实现似乎也是只比较类似于纯等待的方法。但是在这里，虽然这篇文章说</a:t>
            </a:r>
            <a:r>
              <a:rPr lang="en-US" altLang="zh-CN" dirty="0"/>
              <a:t>RDMA</a:t>
            </a:r>
            <a:r>
              <a:rPr lang="zh-CN" altLang="en-US" dirty="0"/>
              <a:t>不适合使用</a:t>
            </a:r>
            <a:r>
              <a:rPr lang="en-US" altLang="zh-CN" dirty="0"/>
              <a:t>checkpoint-restart</a:t>
            </a:r>
            <a:r>
              <a:rPr lang="zh-CN" altLang="en-US" dirty="0"/>
              <a:t>的方法，但是我觉得在我们加解密的场景下，是不是其实还是可以考虑尝试一下这个方案的。毕竟加解密的数据量，肯定是没有</a:t>
            </a:r>
            <a:r>
              <a:rPr lang="en-US" altLang="zh-CN" dirty="0"/>
              <a:t>RDMA</a:t>
            </a:r>
            <a:r>
              <a:rPr lang="zh-CN" altLang="en-US" dirty="0"/>
              <a:t>那么大得夸张的。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第三个问题是关于连接的恢复。和其它的设备不同，</a:t>
            </a:r>
            <a:r>
              <a:rPr lang="en-US" altLang="zh-CN" dirty="0"/>
              <a:t>RDMA</a:t>
            </a:r>
            <a:r>
              <a:rPr lang="zh-CN" altLang="en-US" dirty="0"/>
              <a:t>设备的迁移，对于</a:t>
            </a:r>
            <a:r>
              <a:rPr lang="en-US" altLang="zh-CN" dirty="0"/>
              <a:t>peers</a:t>
            </a:r>
            <a:r>
              <a:rPr lang="zh-CN" altLang="en-US" dirty="0"/>
              <a:t>而言是可见的。诸如网络地址迁移或者</a:t>
            </a:r>
            <a:r>
              <a:rPr lang="en-US" altLang="zh-CN" dirty="0"/>
              <a:t>RDMA</a:t>
            </a:r>
            <a:r>
              <a:rPr lang="zh-CN" altLang="en-US" dirty="0"/>
              <a:t>命名空间的变更需要显式的重新创建所有连接到源设备的</a:t>
            </a:r>
            <a:r>
              <a:rPr lang="en-US" altLang="zh-CN" dirty="0"/>
              <a:t>QP</a:t>
            </a:r>
            <a:r>
              <a:rPr lang="zh-CN" altLang="en-US" dirty="0"/>
              <a:t>。这就引入了同步性的问题。</a:t>
            </a:r>
            <a:endParaRPr lang="en-US" altLang="zh-CN" dirty="0"/>
          </a:p>
          <a:p>
            <a:r>
              <a:rPr lang="zh-CN" altLang="en-US" dirty="0"/>
              <a:t>在之前提到的解决方案中，</a:t>
            </a:r>
            <a:r>
              <a:rPr lang="en-US" altLang="zh-CN" dirty="0" err="1"/>
              <a:t>MigrOS</a:t>
            </a:r>
            <a:r>
              <a:rPr lang="zh-CN" altLang="en-US" dirty="0"/>
              <a:t>就是引入了一个新的</a:t>
            </a:r>
            <a:r>
              <a:rPr lang="en-US" altLang="zh-CN" dirty="0"/>
              <a:t>QP</a:t>
            </a:r>
            <a:r>
              <a:rPr lang="zh-CN" altLang="en-US" dirty="0"/>
              <a:t>状态</a:t>
            </a:r>
            <a:r>
              <a:rPr lang="en-US" altLang="zh-CN" dirty="0"/>
              <a:t>——</a:t>
            </a:r>
            <a:r>
              <a:rPr lang="zh-CN" altLang="en-US" dirty="0"/>
              <a:t>暂停，来指示远程</a:t>
            </a:r>
            <a:r>
              <a:rPr lang="en-US" altLang="zh-CN" dirty="0"/>
              <a:t>peers</a:t>
            </a:r>
            <a:r>
              <a:rPr lang="zh-CN" altLang="en-US" dirty="0"/>
              <a:t>本虚拟机正在迁移。但是，这种方法也很容易受到迁移虚拟机故障的影响。在最坏的情况下，可能导致</a:t>
            </a:r>
            <a:r>
              <a:rPr lang="en-US" altLang="zh-CN" dirty="0"/>
              <a:t>QP</a:t>
            </a:r>
            <a:r>
              <a:rPr lang="zh-CN" altLang="en-US" dirty="0"/>
              <a:t>被永久阻塞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第四个问题就是在多设备情况下的</a:t>
            </a:r>
            <a:r>
              <a:rPr lang="en-US" altLang="zh-CN" dirty="0"/>
              <a:t>suspend</a:t>
            </a:r>
            <a:r>
              <a:rPr lang="zh-CN" altLang="en-US" dirty="0"/>
              <a:t>和</a:t>
            </a:r>
            <a:r>
              <a:rPr lang="en-US" altLang="zh-CN" dirty="0"/>
              <a:t>resume</a:t>
            </a:r>
            <a:r>
              <a:rPr lang="zh-CN" altLang="en-US" dirty="0"/>
              <a:t>操作的处理。对于一个</a:t>
            </a:r>
            <a:r>
              <a:rPr lang="en-US" altLang="zh-CN" dirty="0"/>
              <a:t>VF</a:t>
            </a:r>
            <a:r>
              <a:rPr lang="zh-CN" altLang="en-US" dirty="0"/>
              <a:t>，它在处于</a:t>
            </a:r>
            <a:r>
              <a:rPr lang="en-US" altLang="zh-CN" dirty="0"/>
              <a:t>suspend</a:t>
            </a:r>
            <a:r>
              <a:rPr lang="zh-CN" altLang="en-US" dirty="0"/>
              <a:t>状态之后，仍然有可能接收到来自其它</a:t>
            </a:r>
            <a:r>
              <a:rPr lang="en-US" altLang="zh-CN" dirty="0"/>
              <a:t>peers</a:t>
            </a:r>
            <a:r>
              <a:rPr lang="zh-CN" altLang="en-US" dirty="0"/>
              <a:t>的事务请求。但是很明显，它是没有办法正确处理这些请求的。</a:t>
            </a:r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F72F05-58C4-492E-9F7F-9E341B5E1C7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85586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针对以上的一些问题，这篇论文提出了十一个目标。</a:t>
            </a:r>
            <a:endParaRPr lang="en-US" altLang="zh-CN" dirty="0"/>
          </a:p>
          <a:p>
            <a:r>
              <a:rPr lang="zh-CN" altLang="en-US" dirty="0"/>
              <a:t>第一个是</a:t>
            </a:r>
            <a:r>
              <a:rPr lang="en-US" altLang="zh-CN" dirty="0"/>
              <a:t>RDMA</a:t>
            </a:r>
            <a:r>
              <a:rPr lang="zh-CN" altLang="en-US" dirty="0"/>
              <a:t>命名空间的保持。只要能够实现这个功能，就可以在目标设备上精确重建</a:t>
            </a:r>
            <a:r>
              <a:rPr lang="en-US" altLang="zh-CN" dirty="0"/>
              <a:t>RDMA</a:t>
            </a:r>
            <a:r>
              <a:rPr lang="zh-CN" altLang="en-US" dirty="0"/>
              <a:t>命名空间，消除相关的同步依赖，就可以保证虚拟机的迁移的透明。</a:t>
            </a:r>
            <a:endParaRPr lang="en-US" altLang="zh-CN" dirty="0"/>
          </a:p>
          <a:p>
            <a:r>
              <a:rPr lang="zh-CN" altLang="en-US" dirty="0"/>
              <a:t>第二个是本地连接的保持。同上类似，设备的网络地址（</a:t>
            </a:r>
            <a:r>
              <a:rPr lang="en-US" altLang="zh-CN" dirty="0"/>
              <a:t>MAC</a:t>
            </a:r>
            <a:r>
              <a:rPr lang="zh-CN" altLang="en-US" dirty="0"/>
              <a:t>、</a:t>
            </a:r>
            <a:r>
              <a:rPr lang="en-US" altLang="zh-CN" dirty="0"/>
              <a:t>IP</a:t>
            </a:r>
            <a:r>
              <a:rPr lang="zh-CN" altLang="en-US" dirty="0"/>
              <a:t>或者</a:t>
            </a:r>
            <a:r>
              <a:rPr lang="en-US" altLang="zh-CN" dirty="0"/>
              <a:t>LID</a:t>
            </a:r>
            <a:r>
              <a:rPr lang="zh-CN" altLang="en-US" dirty="0"/>
              <a:t>、</a:t>
            </a:r>
            <a:r>
              <a:rPr lang="en-US" altLang="zh-CN" dirty="0"/>
              <a:t>GID</a:t>
            </a:r>
            <a:r>
              <a:rPr lang="zh-CN" altLang="en-US" dirty="0"/>
              <a:t>）以及</a:t>
            </a:r>
            <a:r>
              <a:rPr lang="en-US" altLang="zh-CN" dirty="0"/>
              <a:t>QP</a:t>
            </a:r>
            <a:r>
              <a:rPr lang="zh-CN" altLang="en-US" dirty="0"/>
              <a:t>状态等都需要保持一致。</a:t>
            </a:r>
            <a:endParaRPr lang="en-US" altLang="zh-CN" dirty="0"/>
          </a:p>
          <a:p>
            <a:r>
              <a:rPr lang="zh-CN" altLang="en-US" dirty="0"/>
              <a:t>第三个是远程连接的保持。在现有的方法中，在迁移前需要先断开与远程的连接，待迁移完成后再重新建立。如果不断开连接的话，</a:t>
            </a:r>
            <a:r>
              <a:rPr lang="en-US" altLang="zh-CN" dirty="0"/>
              <a:t>VF</a:t>
            </a:r>
            <a:r>
              <a:rPr lang="zh-CN" altLang="en-US" dirty="0"/>
              <a:t>挂起了将无法响应传入数据包，基于可靠连接的协议会遇到超时。在该方案中，针对这个问题采用的是指数回退的方式。</a:t>
            </a:r>
            <a:endParaRPr lang="en-US" altLang="zh-CN" dirty="0"/>
          </a:p>
          <a:p>
            <a:r>
              <a:rPr lang="zh-CN" altLang="en-US" dirty="0"/>
              <a:t>所以其实说实话，这个连接保持的功能他们也并不能算实现了。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第四个是以</a:t>
            </a:r>
            <a:r>
              <a:rPr lang="en-US" altLang="zh-CN" dirty="0"/>
              <a:t>packet</a:t>
            </a:r>
            <a:r>
              <a:rPr lang="zh-CN" altLang="en-US" dirty="0"/>
              <a:t>的粒度执行暂停。在这样的粒度下，重传的数据量大小是固定的，只会有这几个字段的东西，并且几乎可以忽略不计。但是这个方法需要能够访问到设备的内部状态。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F72F05-58C4-492E-9F7F-9E341B5E1C7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80824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第五个目标是要寻找一个能够保存设备的所有必要状态，但是又不会开销太大的平衡点。</a:t>
            </a:r>
            <a:endParaRPr lang="en-US" altLang="zh-CN" dirty="0"/>
          </a:p>
          <a:p>
            <a:r>
              <a:rPr lang="zh-CN" altLang="en-US" dirty="0"/>
              <a:t>对于设备状态的提取，肯定是没有必要细节到每一个寄存器的值的。对于设备中的部分，可以通过其它信息推出来的状态，就可以不再跳过。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第六个目标是能够实现对设备状态提取时候的黑箱式的操作。这样的话，对于未来的其它有状态的设备的状态提取，在软件层面就可以直接复用，只需要修改设备固件级别的代码。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第七个目标是提升镜像的兼容性。在大部分集群中， 绝大部分服务器的配置应该都是一样的。但是还存在这样的情况，比如说需要对硬件进行固件升级而执行的热迁移。那么在这样的情况下，就可能存在源和目标机器上的硬件固件版本不一致的问题。那么为了防止出现这个问题，还要尽可能的保证，提取出来的这个 设备状态镜像 能够有较好的兼容性，在不同固件版本的设备之间都能够用。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F72F05-58C4-492E-9F7F-9E341B5E1C7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58949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第八就是对于设备状态主要在</a:t>
            </a:r>
            <a:r>
              <a:rPr lang="en-US" altLang="zh-CN" dirty="0"/>
              <a:t>pre-copy</a:t>
            </a:r>
            <a:r>
              <a:rPr lang="zh-CN" altLang="en-US" dirty="0"/>
              <a:t>阶段就复制掉，避免影响迁移后续的性能。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第九个点是硬件辅助的一个非常重要的优势。</a:t>
            </a:r>
            <a:r>
              <a:rPr lang="en-US" altLang="zh-CN" dirty="0"/>
              <a:t>RDMA</a:t>
            </a:r>
            <a:r>
              <a:rPr lang="zh-CN" altLang="en-US" dirty="0"/>
              <a:t>会能够以非常高的速度写很多的内存。尤其是</a:t>
            </a:r>
            <a:r>
              <a:rPr lang="en-US" altLang="zh-CN" dirty="0"/>
              <a:t>RDMA write</a:t>
            </a:r>
            <a:r>
              <a:rPr lang="zh-CN" altLang="en-US" dirty="0"/>
              <a:t>操作是</a:t>
            </a:r>
            <a:r>
              <a:rPr lang="en-US" altLang="zh-CN" dirty="0"/>
              <a:t>CPU</a:t>
            </a:r>
            <a:r>
              <a:rPr lang="zh-CN" altLang="en-US" dirty="0"/>
              <a:t>不参与的。因此如果想在要逐步控制脏页速率的话，必须要通过硬件级别的限制。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第十个点是对于镜像使用流水线式的传输。就是在</a:t>
            </a:r>
            <a:r>
              <a:rPr lang="en-US" altLang="zh-CN" dirty="0"/>
              <a:t>pre-copy</a:t>
            </a:r>
            <a:r>
              <a:rPr lang="zh-CN" altLang="en-US" dirty="0"/>
              <a:t>的时候，每轮都可以这样做，以减少时间消耗。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F72F05-58C4-492E-9F7F-9E341B5E1C7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96514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第十一个目标就是为了处理之前提到的多设备</a:t>
            </a:r>
            <a:r>
              <a:rPr lang="en-US" altLang="zh-CN" dirty="0"/>
              <a:t>suspend/resume</a:t>
            </a:r>
            <a:r>
              <a:rPr lang="zh-CN" altLang="en-US" dirty="0"/>
              <a:t>问题而提出的方式。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他们为每个设备规定了</a:t>
            </a:r>
            <a:r>
              <a:rPr lang="en-US" altLang="zh-CN" dirty="0"/>
              <a:t>4</a:t>
            </a:r>
            <a:r>
              <a:rPr lang="zh-CN" altLang="en-US" dirty="0"/>
              <a:t>种状态。当要进行热迁移的时候，首先让</a:t>
            </a:r>
            <a:r>
              <a:rPr lang="en-US" altLang="zh-CN" dirty="0"/>
              <a:t>vCPU</a:t>
            </a:r>
            <a:r>
              <a:rPr lang="zh-CN" altLang="en-US" dirty="0"/>
              <a:t>进入休眠状态，以避免</a:t>
            </a:r>
            <a:r>
              <a:rPr lang="en-US" altLang="zh-CN" dirty="0"/>
              <a:t>vCPU</a:t>
            </a:r>
            <a:r>
              <a:rPr lang="zh-CN" altLang="en-US" dirty="0"/>
              <a:t>又引入新的事务要处理。接下来依次把每一个设备都进入</a:t>
            </a:r>
            <a:r>
              <a:rPr lang="en-US" altLang="zh-CN" dirty="0"/>
              <a:t>suspend-active</a:t>
            </a:r>
            <a:r>
              <a:rPr lang="zh-CN" altLang="en-US" dirty="0"/>
              <a:t>状态。进入这个状态后，设备会继续处理</a:t>
            </a:r>
            <a:r>
              <a:rPr lang="en-US" altLang="zh-CN" dirty="0"/>
              <a:t>in-flight</a:t>
            </a:r>
            <a:r>
              <a:rPr lang="zh-CN" altLang="en-US" dirty="0"/>
              <a:t>的事务，但是不会再接收任何的新事务。</a:t>
            </a:r>
            <a:endParaRPr lang="en-US" altLang="zh-CN" dirty="0"/>
          </a:p>
          <a:p>
            <a:r>
              <a:rPr lang="zh-CN" altLang="en-US" dirty="0"/>
              <a:t>所有设备都进入了</a:t>
            </a:r>
            <a:r>
              <a:rPr lang="en-US" altLang="zh-CN" dirty="0"/>
              <a:t>suspend-active</a:t>
            </a:r>
            <a:r>
              <a:rPr lang="zh-CN" altLang="en-US" dirty="0"/>
              <a:t>状态后，再依次把每个设备调到</a:t>
            </a:r>
            <a:r>
              <a:rPr lang="en-US" altLang="zh-CN" dirty="0"/>
              <a:t>suspend-passive</a:t>
            </a:r>
            <a:r>
              <a:rPr lang="zh-CN" altLang="en-US" dirty="0"/>
              <a:t>状态，进入后设备状态将被锁定，可以提取设备状态镜像了。之后就可以依次提取并发送设备镜像了。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恢复的流程就和上面反过来就可以。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F72F05-58C4-492E-9F7F-9E341B5E1C7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39347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implementation</a:t>
            </a:r>
            <a:r>
              <a:rPr lang="zh-CN" altLang="en-US" dirty="0"/>
              <a:t>部分，在这个</a:t>
            </a:r>
            <a:r>
              <a:rPr lang="en-US" altLang="zh-CN" dirty="0"/>
              <a:t>figure6</a:t>
            </a:r>
            <a:r>
              <a:rPr lang="zh-CN" altLang="en-US" dirty="0"/>
              <a:t>里面可以具体看到他们的一些改动。太底层的，设备相关、驱动相关的部分之外，他们在</a:t>
            </a:r>
            <a:r>
              <a:rPr lang="en-US" altLang="zh-CN" dirty="0" err="1"/>
              <a:t>qemu</a:t>
            </a:r>
            <a:r>
              <a:rPr lang="zh-CN" altLang="en-US" dirty="0"/>
              <a:t>中还添加了关于热迁移</a:t>
            </a:r>
            <a:r>
              <a:rPr lang="en-US" altLang="zh-CN" dirty="0"/>
              <a:t>RDMA</a:t>
            </a:r>
            <a:r>
              <a:rPr lang="zh-CN" altLang="en-US" dirty="0"/>
              <a:t>的部分代码。包括</a:t>
            </a:r>
            <a:r>
              <a:rPr lang="en-US" altLang="zh-CN" dirty="0"/>
              <a:t>hypervisor</a:t>
            </a:r>
            <a:r>
              <a:rPr lang="zh-CN" altLang="en-US" dirty="0"/>
              <a:t>如何做针对</a:t>
            </a:r>
            <a:r>
              <a:rPr lang="en-US" altLang="zh-CN" dirty="0"/>
              <a:t>RDMA</a:t>
            </a:r>
            <a:r>
              <a:rPr lang="zh-CN" altLang="en-US" dirty="0"/>
              <a:t>设备的镜像提取和</a:t>
            </a:r>
            <a:r>
              <a:rPr lang="en-US" altLang="zh-CN" dirty="0"/>
              <a:t>pre-copy</a:t>
            </a:r>
            <a:r>
              <a:rPr lang="zh-CN" altLang="en-US" dirty="0"/>
              <a:t>等。</a:t>
            </a:r>
            <a:endParaRPr lang="en-US" altLang="zh-CN" dirty="0"/>
          </a:p>
          <a:p>
            <a:r>
              <a:rPr lang="zh-CN" altLang="en-US" dirty="0"/>
              <a:t>他们的这些实现已经合并到了</a:t>
            </a:r>
            <a:r>
              <a:rPr lang="en-US" altLang="zh-CN" dirty="0" err="1"/>
              <a:t>linux</a:t>
            </a:r>
            <a:r>
              <a:rPr lang="en-US" altLang="zh-CN" dirty="0"/>
              <a:t> kernel 6.7</a:t>
            </a:r>
            <a:r>
              <a:rPr lang="zh-CN" altLang="en-US" dirty="0"/>
              <a:t>和</a:t>
            </a:r>
            <a:r>
              <a:rPr lang="en-US" altLang="zh-CN" dirty="0"/>
              <a:t>qemu8.1</a:t>
            </a:r>
            <a:r>
              <a:rPr lang="zh-CN" altLang="en-US" dirty="0"/>
              <a:t>及之后的版本中了。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我们现在使用的</a:t>
            </a:r>
            <a:r>
              <a:rPr lang="en-US" altLang="zh-CN" dirty="0" err="1"/>
              <a:t>qemu</a:t>
            </a:r>
            <a:r>
              <a:rPr lang="zh-CN" altLang="en-US" dirty="0"/>
              <a:t>版本是</a:t>
            </a:r>
            <a:r>
              <a:rPr lang="en-US" altLang="zh-CN" dirty="0"/>
              <a:t>10.1</a:t>
            </a:r>
            <a:r>
              <a:rPr lang="zh-CN" altLang="en-US" dirty="0"/>
              <a:t>的，所以应该去找找是可以找到他们的关于</a:t>
            </a:r>
            <a:r>
              <a:rPr lang="en-US" altLang="zh-CN" dirty="0"/>
              <a:t>RDMA</a:t>
            </a:r>
            <a:r>
              <a:rPr lang="zh-CN" altLang="en-US" dirty="0"/>
              <a:t>设备热迁移的相关实现的。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F72F05-58C4-492E-9F7F-9E341B5E1C7A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88445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接下来呢是他们放出了他们在</a:t>
            </a:r>
            <a:r>
              <a:rPr lang="en-US" altLang="zh-CN" dirty="0"/>
              <a:t>connectX-7</a:t>
            </a:r>
            <a:r>
              <a:rPr lang="zh-CN" altLang="en-US" dirty="0"/>
              <a:t>上通过固件实现的一些接口，包括设备状态的标注、状态镜像的提取和加载，以及设备状态的控制。</a:t>
            </a:r>
            <a:endParaRPr lang="en-US" altLang="zh-CN" dirty="0"/>
          </a:p>
          <a:p>
            <a:r>
              <a:rPr lang="zh-CN" altLang="en-US" dirty="0"/>
              <a:t>这些接口具体的命令和之前</a:t>
            </a:r>
            <a:r>
              <a:rPr lang="en-US" altLang="zh-CN" dirty="0"/>
              <a:t>design</a:t>
            </a:r>
            <a:r>
              <a:rPr lang="zh-CN" altLang="en-US" dirty="0"/>
              <a:t>部分的那些目标是相互照应的。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F72F05-58C4-492E-9F7F-9E341B5E1C7A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09544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</a:t>
            </a:r>
            <a:r>
              <a:rPr lang="en-US" altLang="zh-CN" dirty="0"/>
              <a:t>evaluation</a:t>
            </a:r>
            <a:r>
              <a:rPr lang="zh-CN" altLang="en-US" dirty="0"/>
              <a:t>部分，因为他之前</a:t>
            </a:r>
            <a:r>
              <a:rPr lang="en-US" altLang="zh-CN" dirty="0"/>
              <a:t>challenge</a:t>
            </a:r>
            <a:r>
              <a:rPr lang="zh-CN" altLang="en-US" dirty="0"/>
              <a:t>的</a:t>
            </a:r>
            <a:r>
              <a:rPr lang="en-US" altLang="zh-CN" dirty="0" err="1"/>
              <a:t>migrOS</a:t>
            </a:r>
            <a:r>
              <a:rPr lang="zh-CN" altLang="en-US" dirty="0"/>
              <a:t>和</a:t>
            </a:r>
            <a:r>
              <a:rPr lang="en-US" altLang="zh-CN" dirty="0" err="1"/>
              <a:t>migrRDMA</a:t>
            </a:r>
            <a:r>
              <a:rPr lang="zh-CN" altLang="en-US" dirty="0"/>
              <a:t>都没有公开他们的实现，所以无法与他们比较。</a:t>
            </a:r>
            <a:endParaRPr lang="en-US" altLang="zh-CN" dirty="0"/>
          </a:p>
          <a:p>
            <a:r>
              <a:rPr lang="zh-CN" altLang="en-US" dirty="0"/>
              <a:t>他这里的</a:t>
            </a:r>
            <a:r>
              <a:rPr lang="en-US" altLang="zh-CN" dirty="0"/>
              <a:t>baseline</a:t>
            </a:r>
            <a:r>
              <a:rPr lang="zh-CN" altLang="en-US" dirty="0"/>
              <a:t>是通过使用标准</a:t>
            </a:r>
            <a:r>
              <a:rPr lang="en-US" altLang="zh-CN" dirty="0"/>
              <a:t>RDMA verbs API</a:t>
            </a:r>
            <a:r>
              <a:rPr lang="zh-CN" altLang="en-US" dirty="0"/>
              <a:t>逐个创建</a:t>
            </a:r>
            <a:r>
              <a:rPr lang="en-US" altLang="zh-CN" dirty="0"/>
              <a:t>RDMA</a:t>
            </a:r>
            <a:r>
              <a:rPr lang="zh-CN" altLang="en-US" dirty="0"/>
              <a:t>资源，然后重新连接。可以看到，不管在小还是大连接数量下，他们的方法都能够获得比</a:t>
            </a:r>
            <a:r>
              <a:rPr lang="en-US" altLang="zh-CN" dirty="0"/>
              <a:t>baseline</a:t>
            </a:r>
            <a:r>
              <a:rPr lang="zh-CN" altLang="en-US" dirty="0"/>
              <a:t>好很多的效果。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从开销角度来看，迁移的停机时间、带宽的下降程度，都是相对比较理想的状态。所有的开销全部都是毫秒级别的。（下一页）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他们又测试了一些分布式应用，可以得出结论，对于分布式应用来说，就算有热迁移，对于应用而言也不会有什么显著的影响，可以做到基本应用无感的。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F72F05-58C4-492E-9F7F-9E341B5E1C7A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28071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D5E001-7CFA-9421-CAD0-65F908621E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5529B42-2B8C-8D42-1CA9-8F7B8D8135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03EA9C-75BE-C9BA-E432-86F19E366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FAE58-4469-41B2-81B8-17F45CEF0989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0C7FFE-6CFC-62AE-9DC0-02DE98234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79D239-4074-C090-A466-8BCBC61DA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75AAD-D8F5-4442-8F20-296349536E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5856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EBC18A-0619-A730-48CA-2F0A2B1C2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F792B5-B938-F6E2-5581-30607EF4A3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764D9C-26B4-D7D5-7A4F-ACAA8B84B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FAE58-4469-41B2-81B8-17F45CEF0989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6C285C-62ED-9B37-2CD2-011554678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C2DE21-4691-6810-B84A-726F67D30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75AAD-D8F5-4442-8F20-296349536E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9435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7C236E-DC73-F762-3F48-F0B7319C2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8A9CEAF-C33E-5D34-81DD-38BD462D41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5683DA-21F9-A81A-DA5C-159D5607B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FAE58-4469-41B2-81B8-17F45CEF0989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9C741C-6B06-228C-8472-C8C503A94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AB19F8-A05A-AEDF-6AD5-D8FCFB719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75AAD-D8F5-4442-8F20-296349536E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6388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8F5398-CE4B-B07B-8AF4-B719521DD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2E0BD4-190E-4943-6162-C17B4059A7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747978B-7ADD-4B3D-30F4-27DF4F61B9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EEB3DEA-3206-2F6C-7998-88474CA38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FAE58-4469-41B2-81B8-17F45CEF0989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5552277-2C03-0BD2-E1D0-F176AA298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BAB4533-B2E7-FAF6-D98B-6430C5874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75AAD-D8F5-4442-8F20-296349536E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643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456168-34E7-6F10-0036-A4DC726CB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111C720-0D58-11AD-591E-81F8A0570E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9B3AEE3-F04B-2F87-8BA8-9F78C17327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32B6ABB-0E4B-2FC0-E877-DF83CABD9A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F07DFF6-B638-F2FF-7320-ED667448CF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B0D180F-2958-CAD9-6C0D-5C2F44015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FAE58-4469-41B2-81B8-17F45CEF0989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9B37282-2453-55C7-9801-606E2E67B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057A9EF-12FB-4211-A451-6DCEBC49F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75AAD-D8F5-4442-8F20-296349536E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9340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2EA23C-E4EB-665A-D5BA-4A6F59E5D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92CA303-EA36-2444-E566-D39C73421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FAE58-4469-41B2-81B8-17F45CEF0989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DC95D30-9E8D-8143-0FAF-DD36A80F8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98EC42E-CC58-4D67-7F79-8FEEC607B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75AAD-D8F5-4442-8F20-296349536E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8794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76AA931-965D-AB49-D3CC-3A5885D95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FAE58-4469-41B2-81B8-17F45CEF0989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2BEDCDD-B63E-4024-591F-253D32C83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FBE4FE5-B28E-2019-886F-50CE568EF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75AAD-D8F5-4442-8F20-296349536E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6549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12A0BF-0431-092A-E657-1FC4245DA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1117B8-BE82-7D29-C5DF-10BC3A5782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D5C6FE7-FE57-660A-3A82-F6E4344A2D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505E048-B176-392E-1A16-6B5A4EFD5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FAE58-4469-41B2-81B8-17F45CEF0989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27B36E-B085-315C-1665-5C9063DCC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35FF6A5-0AF1-7616-2395-0BE1B6F52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75AAD-D8F5-4442-8F20-296349536E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377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593EC3-7ECC-0578-131A-41E2B32C8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FB24196-60D3-3D2A-924A-B1695D29C3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492548C-084B-4C1D-4BF8-1097E7C2A4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6B69A67-501F-12A5-7799-7BEECF4C3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FAE58-4469-41B2-81B8-17F45CEF0989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F5D16A8-5FDA-3661-1530-23CC21944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A38D3E0-0A9B-0D2B-5388-C398990AD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75AAD-D8F5-4442-8F20-296349536E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0749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651546-3739-5C08-2291-E00214EEB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34291BE-F208-EDA9-18F0-A5777B2C82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B5B3F2-6659-487E-7D01-C62045978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FAE58-4469-41B2-81B8-17F45CEF0989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E09D18-1792-3FE1-880C-ED785644F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F5FF74-6986-AE13-3841-3B98F82C8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75AAD-D8F5-4442-8F20-296349536E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7584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F2B4AC1-876F-E3DE-53A4-752F951E2F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F62BF3A-0D1E-5EE4-4B1A-7CB1519ECA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2B3D5A-EF71-49E3-D855-283D1FD1D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FAE58-4469-41B2-81B8-17F45CEF0989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D02786-67D4-CBAA-EC93-ACE070E4D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223384-C83C-274A-B712-F2C6DA12C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75AAD-D8F5-4442-8F20-296349536E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2889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E973732-EAFD-EC46-44FE-4BCBB1687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A33733C-5C48-14BE-ADE0-E2B5A5646F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1C2E76-26E7-8BAA-2536-F5BA835574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3FAE58-4469-41B2-81B8-17F45CEF0989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707BCF-6E30-B755-2B4D-816D6A2975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808443-575A-E3E2-AFF4-ECFA0F6511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C75AAD-D8F5-4442-8F20-296349536E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1443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0D97FA-8E7A-40DF-C4E1-AAC82F6355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0164" y="1158649"/>
            <a:ext cx="9731672" cy="2387600"/>
          </a:xfrm>
        </p:spPr>
        <p:txBody>
          <a:bodyPr>
            <a:normAutofit/>
          </a:bodyPr>
          <a:lstStyle/>
          <a:p>
            <a:r>
              <a:rPr lang="en-US" altLang="zh-CN" sz="4800" b="1" i="0" dirty="0">
                <a:effectLst/>
                <a:latin typeface="Roboto" panose="02000000000000000000" pitchFamily="2" charset="0"/>
              </a:rPr>
              <a:t>device assisted live migration of RDMA</a:t>
            </a:r>
            <a:r>
              <a:rPr lang="en-US" altLang="zh-CN" sz="4800" b="1" dirty="0">
                <a:latin typeface="Roboto" panose="02000000000000000000" pitchFamily="2" charset="0"/>
              </a:rPr>
              <a:t> </a:t>
            </a:r>
            <a:r>
              <a:rPr lang="en-US" altLang="zh-CN" sz="4800" b="1" i="0" dirty="0">
                <a:effectLst/>
                <a:latin typeface="Roboto" panose="02000000000000000000" pitchFamily="2" charset="0"/>
              </a:rPr>
              <a:t>devices</a:t>
            </a:r>
            <a:endParaRPr lang="zh-CN" altLang="en-US" sz="4800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97DF281-32F5-C973-FDAC-E491DB1CA3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47291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6D314C-C232-21D8-7162-C9B2A3B85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introduction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F62B5C-2C24-7490-59A0-1FABBA8220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previous works on RDMA LM</a:t>
            </a:r>
          </a:p>
          <a:p>
            <a:pPr lvl="1"/>
            <a:r>
              <a:rPr lang="en-US" altLang="zh-CN" dirty="0"/>
              <a:t>software-based live migration(</a:t>
            </a:r>
            <a:r>
              <a:rPr lang="zh-CN" altLang="en-US" dirty="0"/>
              <a:t>潘博）</a:t>
            </a:r>
            <a:endParaRPr lang="en-US" altLang="zh-CN" dirty="0"/>
          </a:p>
          <a:p>
            <a:pPr lvl="1"/>
            <a:r>
              <a:rPr lang="en-US" altLang="zh-CN" dirty="0" err="1"/>
              <a:t>MigrOS</a:t>
            </a:r>
            <a:r>
              <a:rPr lang="en-US" altLang="zh-CN" dirty="0"/>
              <a:t>: rely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non-standard extensions in RDMA API</a:t>
            </a:r>
          </a:p>
          <a:p>
            <a:pPr lvl="1"/>
            <a:r>
              <a:rPr lang="en-US" altLang="zh-CN" dirty="0"/>
              <a:t>CONS</a:t>
            </a:r>
            <a:r>
              <a:rPr lang="zh-CN" altLang="en-US" dirty="0"/>
              <a:t>：</a:t>
            </a:r>
            <a:r>
              <a:rPr lang="en-US" altLang="zh-CN" dirty="0"/>
              <a:t>requiring access to tenant software stacks</a:t>
            </a:r>
          </a:p>
          <a:p>
            <a:r>
              <a:rPr lang="en-US" altLang="zh-CN" dirty="0"/>
              <a:t>DA-RDMA-LM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en-US" altLang="zh-CN" dirty="0"/>
              <a:t>propose hardware migration API to assist LM</a:t>
            </a:r>
          </a:p>
          <a:p>
            <a:pPr lvl="1"/>
            <a:r>
              <a:rPr lang="en-US" altLang="zh-CN" dirty="0"/>
              <a:t>transparent to network peers and guest software</a:t>
            </a:r>
          </a:p>
          <a:p>
            <a:pPr lvl="1"/>
            <a:r>
              <a:rPr lang="en-US" altLang="zh-CN" dirty="0"/>
              <a:t>no performance degradation or runtime overhead</a:t>
            </a:r>
          </a:p>
          <a:p>
            <a:pPr lvl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073784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D889F2-4FC0-428D-18BD-7CDE2E337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background-RDMA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DF7D18-CF02-A7BF-7B71-1C10BA36E3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IB Verbs:</a:t>
            </a:r>
          </a:p>
          <a:p>
            <a:pPr lvl="1"/>
            <a:r>
              <a:rPr lang="en-US" altLang="zh-CN" dirty="0"/>
              <a:t>RDMA objects + ops(ctrl </a:t>
            </a:r>
            <a:r>
              <a:rPr lang="en-US" altLang="zh-CN" dirty="0" err="1"/>
              <a:t>cmd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RDMA objects</a:t>
            </a:r>
          </a:p>
          <a:p>
            <a:pPr lvl="1"/>
            <a:r>
              <a:rPr lang="en-US" altLang="zh-CN" dirty="0"/>
              <a:t>Work Queue Element =&gt; QP</a:t>
            </a:r>
          </a:p>
          <a:p>
            <a:pPr lvl="1"/>
            <a:r>
              <a:rPr lang="en-US" altLang="zh-CN" dirty="0"/>
              <a:t>Completion Queue Entry =&gt; Completion Queue</a:t>
            </a:r>
          </a:p>
          <a:p>
            <a:pPr lvl="1"/>
            <a:r>
              <a:rPr lang="en-US" altLang="zh-CN" i="1" dirty="0"/>
              <a:t>Memory Registration</a:t>
            </a:r>
            <a:r>
              <a:rPr lang="en-US" altLang="zh-CN" dirty="0"/>
              <a:t> -&gt; Memory Region object</a:t>
            </a:r>
          </a:p>
          <a:p>
            <a:r>
              <a:rPr lang="en-US" altLang="zh-CN" dirty="0"/>
              <a:t>RDMA namespace</a:t>
            </a:r>
          </a:p>
          <a:p>
            <a:pPr lvl="1"/>
            <a:r>
              <a:rPr lang="en-US" altLang="zh-CN" dirty="0"/>
              <a:t>identifier for RDMA objects, QP, Memory Keys</a:t>
            </a:r>
          </a:p>
          <a:p>
            <a:pPr lvl="1"/>
            <a:r>
              <a:rPr lang="en-US" altLang="zh-CN" dirty="0"/>
              <a:t>visible to guest OS kernel &amp; RDMA middleware(</a:t>
            </a:r>
            <a:r>
              <a:rPr lang="en-US" altLang="zh-CN" dirty="0" err="1"/>
              <a:t>libibverbs</a:t>
            </a:r>
            <a:r>
              <a:rPr lang="en-US" altLang="zh-CN" dirty="0"/>
              <a:t>)</a:t>
            </a:r>
          </a:p>
          <a:p>
            <a:pPr lvl="1"/>
            <a:r>
              <a:rPr lang="en-US" altLang="zh-CN" dirty="0"/>
              <a:t>visible to remote peers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30487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97DDA5-32C7-7396-1201-02E732B0C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background</a:t>
            </a:r>
            <a:endParaRPr lang="zh-CN" altLang="en-US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4F2334-9EBB-063D-879E-E36FA0382686}"/>
              </a:ext>
            </a:extLst>
          </p:cNvPr>
          <p:cNvGrpSpPr/>
          <p:nvPr/>
        </p:nvGrpSpPr>
        <p:grpSpPr>
          <a:xfrm>
            <a:off x="466695" y="2491740"/>
            <a:ext cx="7328566" cy="3354012"/>
            <a:chOff x="1716374" y="1858780"/>
            <a:chExt cx="8854189" cy="3964112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B0BC859A-09F1-B715-0C16-319B5C95EBEE}"/>
                </a:ext>
              </a:extLst>
            </p:cNvPr>
            <p:cNvSpPr/>
            <p:nvPr/>
          </p:nvSpPr>
          <p:spPr>
            <a:xfrm>
              <a:off x="3717561" y="1858780"/>
              <a:ext cx="3275350" cy="757004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Device State</a:t>
              </a:r>
              <a:endParaRPr lang="zh-CN" altLang="en-US" dirty="0"/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17CE2829-0B74-0D3B-27A3-AFECB4BA6C0F}"/>
                </a:ext>
              </a:extLst>
            </p:cNvPr>
            <p:cNvSpPr/>
            <p:nvPr/>
          </p:nvSpPr>
          <p:spPr>
            <a:xfrm>
              <a:off x="1918741" y="2861521"/>
              <a:ext cx="2773180" cy="645644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architectural</a:t>
              </a:r>
              <a:endParaRPr lang="zh-CN" altLang="en-US" dirty="0"/>
            </a:p>
          </p:txBody>
        </p:sp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5666AAB4-8533-0991-943F-64B4CBAC961C}"/>
                </a:ext>
              </a:extLst>
            </p:cNvPr>
            <p:cNvSpPr/>
            <p:nvPr/>
          </p:nvSpPr>
          <p:spPr>
            <a:xfrm>
              <a:off x="6096000" y="2870616"/>
              <a:ext cx="4474563" cy="652073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micro-architectural</a:t>
              </a:r>
              <a:endParaRPr lang="zh-CN" altLang="en-US" dirty="0"/>
            </a:p>
          </p:txBody>
        </p: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D169143E-1194-F6D9-C881-A36677CEDF0D}"/>
                </a:ext>
              </a:extLst>
            </p:cNvPr>
            <p:cNvGrpSpPr/>
            <p:nvPr/>
          </p:nvGrpSpPr>
          <p:grpSpPr>
            <a:xfrm>
              <a:off x="2121106" y="4356179"/>
              <a:ext cx="2360952" cy="1339512"/>
              <a:chOff x="1851283" y="4078924"/>
              <a:chExt cx="2360952" cy="1339512"/>
            </a:xfrm>
          </p:grpSpPr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827CAEF2-206B-81A1-8F36-F7C3C966C39A}"/>
                  </a:ext>
                </a:extLst>
              </p:cNvPr>
              <p:cNvSpPr/>
              <p:nvPr/>
            </p:nvSpPr>
            <p:spPr>
              <a:xfrm>
                <a:off x="1851284" y="4078924"/>
                <a:ext cx="2360951" cy="446504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QP status</a:t>
                </a:r>
                <a:endParaRPr lang="zh-CN" altLang="en-US" dirty="0"/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E8C3E99E-2649-7298-2135-E9AC50C0C8EF}"/>
                  </a:ext>
                </a:extLst>
              </p:cNvPr>
              <p:cNvSpPr/>
              <p:nvPr/>
            </p:nvSpPr>
            <p:spPr>
              <a:xfrm>
                <a:off x="1851284" y="4525428"/>
                <a:ext cx="2360951" cy="446504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CQ</a:t>
                </a:r>
                <a:endParaRPr lang="zh-CN" altLang="en-US" dirty="0"/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05A01693-C397-1A8F-B33B-658A298C7C15}"/>
                  </a:ext>
                </a:extLst>
              </p:cNvPr>
              <p:cNvSpPr/>
              <p:nvPr/>
            </p:nvSpPr>
            <p:spPr>
              <a:xfrm>
                <a:off x="1851283" y="4971932"/>
                <a:ext cx="2360951" cy="446504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MR</a:t>
                </a:r>
                <a:endParaRPr lang="zh-CN" altLang="en-US" dirty="0"/>
              </a:p>
            </p:txBody>
          </p:sp>
        </p:grpSp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FEC99FE8-75A2-50B9-10CD-6EEE1911F394}"/>
                </a:ext>
              </a:extLst>
            </p:cNvPr>
            <p:cNvSpPr/>
            <p:nvPr/>
          </p:nvSpPr>
          <p:spPr>
            <a:xfrm>
              <a:off x="1716374" y="3701250"/>
              <a:ext cx="2975547" cy="2121642"/>
            </a:xfrm>
            <a:prstGeom prst="roundRect">
              <a:avLst/>
            </a:prstGeom>
            <a:noFill/>
            <a:ln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17E3E383-D2EB-36DB-9A8D-833E7A01929B}"/>
                </a:ext>
              </a:extLst>
            </p:cNvPr>
            <p:cNvSpPr txBox="1"/>
            <p:nvPr/>
          </p:nvSpPr>
          <p:spPr>
            <a:xfrm>
              <a:off x="2327222" y="3859648"/>
              <a:ext cx="1525249" cy="4365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RDMA obj</a:t>
              </a:r>
              <a:endParaRPr lang="zh-CN" altLang="en-US" dirty="0"/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E5786782-96C4-26E0-3DD5-5A868E8C0650}"/>
                </a:ext>
              </a:extLst>
            </p:cNvPr>
            <p:cNvSpPr/>
            <p:nvPr/>
          </p:nvSpPr>
          <p:spPr>
            <a:xfrm>
              <a:off x="6096001" y="3701250"/>
              <a:ext cx="2141094" cy="652073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descriptor struct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D416C32C-BE36-356F-348A-E862C7F7EB10}"/>
                </a:ext>
              </a:extLst>
            </p:cNvPr>
            <p:cNvSpPr/>
            <p:nvPr/>
          </p:nvSpPr>
          <p:spPr>
            <a:xfrm>
              <a:off x="6096000" y="4444584"/>
              <a:ext cx="2171075" cy="58461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\</a:t>
              </a:r>
              <a:r>
                <a:rPr lang="en-US" altLang="zh-CN" dirty="0">
                  <a:solidFill>
                    <a:schemeClr val="tx1"/>
                  </a:solidFill>
                </a:rPr>
                <a:t>software API</a:t>
              </a:r>
              <a:endParaRPr lang="zh-CN" altLang="en-US" dirty="0"/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120A7436-9F2C-F93A-0D41-DBCA90FDAE12}"/>
                </a:ext>
              </a:extLst>
            </p:cNvPr>
            <p:cNvSpPr/>
            <p:nvPr/>
          </p:nvSpPr>
          <p:spPr>
            <a:xfrm>
              <a:off x="6096000" y="5135310"/>
              <a:ext cx="2171075" cy="58461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supported features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474A2A28-3BA3-CE8D-3BCF-7EA06C5C3E65}"/>
                </a:ext>
              </a:extLst>
            </p:cNvPr>
            <p:cNvSpPr/>
            <p:nvPr/>
          </p:nvSpPr>
          <p:spPr>
            <a:xfrm>
              <a:off x="8399489" y="3677015"/>
              <a:ext cx="2141094" cy="652073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descriptor struct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AA968F01-8C45-1B9E-EAF0-6EA174643AD6}"/>
                </a:ext>
              </a:extLst>
            </p:cNvPr>
            <p:cNvSpPr/>
            <p:nvPr/>
          </p:nvSpPr>
          <p:spPr>
            <a:xfrm>
              <a:off x="8399488" y="4420349"/>
              <a:ext cx="2171075" cy="58461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\</a:t>
              </a:r>
              <a:r>
                <a:rPr lang="en-US" altLang="zh-CN" dirty="0">
                  <a:solidFill>
                    <a:schemeClr val="tx1"/>
                  </a:solidFill>
                </a:rPr>
                <a:t>software API</a:t>
              </a:r>
              <a:endParaRPr lang="zh-CN" altLang="en-US" dirty="0"/>
            </a:p>
          </p:txBody>
        </p:sp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251D0687-6DF3-3EE9-6749-270C84D3EFD5}"/>
                </a:ext>
              </a:extLst>
            </p:cNvPr>
            <p:cNvSpPr/>
            <p:nvPr/>
          </p:nvSpPr>
          <p:spPr>
            <a:xfrm>
              <a:off x="8399488" y="5111075"/>
              <a:ext cx="2171075" cy="58461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supported features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pic>
        <p:nvPicPr>
          <p:cNvPr id="22" name="图片 21">
            <a:extLst>
              <a:ext uri="{FF2B5EF4-FFF2-40B4-BE49-F238E27FC236}">
                <a16:creationId xmlns:a16="http://schemas.microsoft.com/office/drawing/2014/main" id="{8D41F66B-F39F-9E0D-B0BC-80420793B9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0892"/>
          <a:stretch/>
        </p:blipFill>
        <p:spPr>
          <a:xfrm>
            <a:off x="6312800" y="187023"/>
            <a:ext cx="5296639" cy="2639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580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EF0305-C5A8-AE99-11D0-0428DF67C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challenges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21BE79-F38D-B0F6-17C8-19BBD53066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namespace migration</a:t>
            </a:r>
          </a:p>
          <a:p>
            <a:pPr lvl="1"/>
            <a:r>
              <a:rPr lang="en-US" altLang="zh-CN" dirty="0"/>
              <a:t>runtime translation =&gt; invaded modification to guest software stack or middleware</a:t>
            </a:r>
          </a:p>
          <a:p>
            <a:r>
              <a:rPr lang="en-US" altLang="zh-CN" dirty="0"/>
              <a:t>in-flight messages</a:t>
            </a:r>
          </a:p>
          <a:p>
            <a:pPr lvl="1"/>
            <a:r>
              <a:rPr lang="en-US" altLang="zh-CN" dirty="0"/>
              <a:t>wait till all WQE is done  =&gt; downtime may be too long</a:t>
            </a:r>
          </a:p>
          <a:p>
            <a:pPr lvl="1"/>
            <a:r>
              <a:rPr lang="en-US" altLang="zh-CN" dirty="0"/>
              <a:t>checkpoint-restart =&gt; possibly inconsistent state of atomic RDMA op</a:t>
            </a:r>
          </a:p>
          <a:p>
            <a:r>
              <a:rPr lang="en-US" altLang="zh-CN" dirty="0"/>
              <a:t>restore connection</a:t>
            </a:r>
          </a:p>
          <a:p>
            <a:pPr lvl="1"/>
            <a:r>
              <a:rPr lang="en-US" altLang="zh-CN" dirty="0"/>
              <a:t>non-standard QP status </a:t>
            </a:r>
            <a:r>
              <a:rPr lang="en-US" altLang="zh-CN" dirty="0">
                <a:sym typeface="Wingdings" panose="05000000000000000000" pitchFamily="2" charset="2"/>
              </a:rPr>
              <a:t> halt</a:t>
            </a:r>
            <a:endParaRPr lang="en-US" altLang="zh-CN" dirty="0"/>
          </a:p>
          <a:p>
            <a:r>
              <a:rPr lang="en-US" altLang="zh-CN" dirty="0"/>
              <a:t>multiple device suspend/resume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89044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DD9531-C288-3BFC-6A72-AAD549F30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design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7EF757-67F2-3BC8-995E-F173099C1E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zh-CN" dirty="0"/>
              <a:t>RDMA namespace preservation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dirty="0"/>
              <a:t>local connection preservation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dirty="0"/>
              <a:t>remote connection preservation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dirty="0"/>
              <a:t>quiescing at packet granularity</a:t>
            </a:r>
          </a:p>
          <a:p>
            <a:pPr lvl="1"/>
            <a:r>
              <a:rPr lang="en-US" altLang="zh-CN" dirty="0"/>
              <a:t>current expected packet sequence number</a:t>
            </a:r>
          </a:p>
          <a:p>
            <a:pPr lvl="1"/>
            <a:r>
              <a:rPr lang="en-US" altLang="zh-CN" dirty="0"/>
              <a:t>transport opcode</a:t>
            </a:r>
          </a:p>
          <a:p>
            <a:pPr lvl="1"/>
            <a:r>
              <a:rPr lang="en-US" altLang="zh-CN" dirty="0"/>
              <a:t>virtual RDMA </a:t>
            </a:r>
            <a:r>
              <a:rPr lang="en-US" altLang="zh-CN" dirty="0" err="1"/>
              <a:t>addr</a:t>
            </a:r>
            <a:endParaRPr lang="en-US" altLang="zh-CN" dirty="0"/>
          </a:p>
          <a:p>
            <a:pPr lvl="1"/>
            <a:r>
              <a:rPr lang="en-US" altLang="zh-CN" dirty="0"/>
              <a:t>cached results of atomic op used for retransmission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93195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5DDC68-165C-3CDB-92ED-0450EFB0B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design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8FF34E6-F5A7-DE96-6B28-0AD0A17D36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5"/>
            </a:pPr>
            <a:r>
              <a:rPr lang="en-US" altLang="zh-CN" dirty="0"/>
              <a:t>relax micro-architectural state </a:t>
            </a:r>
          </a:p>
          <a:p>
            <a:pPr lvl="1"/>
            <a:r>
              <a:rPr lang="en-US" altLang="zh-CN" dirty="0"/>
              <a:t>look for balance between the state representation and memory footprint</a:t>
            </a:r>
          </a:p>
          <a:p>
            <a:pPr marL="514350" indent="-514350">
              <a:buFont typeface="+mj-lt"/>
              <a:buAutoNum type="arabicPeriod" startAt="5"/>
            </a:pPr>
            <a:r>
              <a:rPr lang="en-US" altLang="zh-CN" dirty="0"/>
              <a:t>black-box state extraction</a:t>
            </a:r>
          </a:p>
          <a:p>
            <a:pPr marL="514350" indent="-514350">
              <a:buFont typeface="+mj-lt"/>
              <a:buAutoNum type="arabicPeriod" startAt="5"/>
            </a:pPr>
            <a:r>
              <a:rPr lang="en-US" altLang="zh-CN" dirty="0"/>
              <a:t>image-compatibility tracking</a:t>
            </a:r>
          </a:p>
          <a:p>
            <a:pPr lvl="1"/>
            <a:r>
              <a:rPr lang="en-US" altLang="zh-CN" dirty="0"/>
              <a:t>device-migration “tag”</a:t>
            </a:r>
          </a:p>
        </p:txBody>
      </p:sp>
    </p:spTree>
    <p:extLst>
      <p:ext uri="{BB962C8B-B14F-4D97-AF65-F5344CB8AC3E}">
        <p14:creationId xmlns:p14="http://schemas.microsoft.com/office/powerpoint/2010/main" val="1869883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B71549-8ACB-6606-82AD-7D84EB335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design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FC1377-B58E-66D8-08AF-58A8F512E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932766"/>
          </a:xfrm>
        </p:spPr>
        <p:txBody>
          <a:bodyPr/>
          <a:lstStyle/>
          <a:p>
            <a:pPr marL="514350" indent="-514350">
              <a:buFont typeface="+mj-lt"/>
              <a:buAutoNum type="arabicPeriod" startAt="8"/>
            </a:pPr>
            <a:r>
              <a:rPr lang="en-US" altLang="zh-CN" dirty="0"/>
              <a:t>device state pre-copy</a:t>
            </a:r>
          </a:p>
          <a:p>
            <a:pPr marL="514350" indent="-514350">
              <a:buFont typeface="+mj-lt"/>
              <a:buAutoNum type="arabicPeriod" startAt="8"/>
            </a:pPr>
            <a:r>
              <a:rPr lang="en-US" altLang="zh-CN" dirty="0"/>
              <a:t>dirty-rate control</a:t>
            </a:r>
          </a:p>
          <a:p>
            <a:pPr lvl="1"/>
            <a:r>
              <a:rPr lang="en-US" altLang="zh-CN" dirty="0"/>
              <a:t>vCPU does not involve in RDMA writes =&gt; require device level </a:t>
            </a:r>
            <a:r>
              <a:rPr lang="en-US" altLang="zh-CN" dirty="0" err="1"/>
              <a:t>throtoling</a:t>
            </a:r>
            <a:endParaRPr lang="en-US" altLang="zh-CN" dirty="0"/>
          </a:p>
          <a:p>
            <a:pPr marL="514350" indent="-514350">
              <a:buFont typeface="+mj-lt"/>
              <a:buAutoNum type="arabicPeriod" startAt="8"/>
            </a:pPr>
            <a:r>
              <a:rPr lang="en-US" altLang="zh-CN" dirty="0"/>
              <a:t>pipelined state extraction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C3AB2AE-34D9-6536-259D-3949C8B9BE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8257" y="3758391"/>
            <a:ext cx="6630325" cy="2495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978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1BB309-E247-F80F-3318-335DB8796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design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634659-63DE-1243-1CE3-704F28E41A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99760" cy="513715"/>
          </a:xfrm>
        </p:spPr>
        <p:txBody>
          <a:bodyPr/>
          <a:lstStyle/>
          <a:p>
            <a:pPr marL="514350" indent="-514350">
              <a:buFont typeface="+mj-lt"/>
              <a:buAutoNum type="arabicPeriod" startAt="11"/>
            </a:pPr>
            <a:r>
              <a:rPr lang="en-US" altLang="zh-CN" dirty="0"/>
              <a:t>tow-phase suspend and resume</a:t>
            </a:r>
            <a:endParaRPr lang="zh-CN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5F0D101B-4A94-CD3A-3B26-C867F7549B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5104206"/>
              </p:ext>
            </p:extLst>
          </p:nvPr>
        </p:nvGraphicFramePr>
        <p:xfrm>
          <a:off x="332740" y="2768600"/>
          <a:ext cx="60756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8500">
                  <a:extLst>
                    <a:ext uri="{9D8B030D-6E8A-4147-A177-3AD203B41FA5}">
                      <a16:colId xmlns:a16="http://schemas.microsoft.com/office/drawing/2014/main" val="327947937"/>
                    </a:ext>
                  </a:extLst>
                </a:gridCol>
                <a:gridCol w="4107180">
                  <a:extLst>
                    <a:ext uri="{9D8B030D-6E8A-4147-A177-3AD203B41FA5}">
                      <a16:colId xmlns:a16="http://schemas.microsoft.com/office/drawing/2014/main" val="146353258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r>
                        <a:rPr lang="en-US" altLang="zh-CN" dirty="0"/>
                        <a:t>Status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Description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177261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altLang="zh-CN" dirty="0"/>
                        <a:t>suspend-active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cease new transactions, conclude in-flight ones.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364211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altLang="zh-CN" dirty="0"/>
                        <a:t>suspend-passive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seals device state, ready to save image.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16994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altLang="zh-CN" dirty="0"/>
                        <a:t>resume-passive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revert device to </a:t>
                      </a:r>
                      <a:r>
                        <a:rPr lang="en-US" altLang="zh-CN" i="1" dirty="0"/>
                        <a:t>suspend-active </a:t>
                      </a:r>
                      <a:r>
                        <a:rPr lang="en-US" altLang="zh-CN" i="0" dirty="0"/>
                        <a:t>state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416141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altLang="zh-CN" dirty="0"/>
                        <a:t>resume-active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ready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5154210"/>
                  </a:ext>
                </a:extLst>
              </a:tr>
            </a:tbl>
          </a:graphicData>
        </a:graphic>
      </p:graphicFrame>
      <p:pic>
        <p:nvPicPr>
          <p:cNvPr id="6" name="图片 5">
            <a:extLst>
              <a:ext uri="{FF2B5EF4-FFF2-40B4-BE49-F238E27FC236}">
                <a16:creationId xmlns:a16="http://schemas.microsoft.com/office/drawing/2014/main" id="{3BB2D672-F25F-B136-EBDE-276C7084D4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557" y="2042879"/>
            <a:ext cx="4594269" cy="412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3667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A9BC89-32C6-A7DB-5282-1A4471D02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implementation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A38CEC5-D88C-BC73-2EF7-D3432A8E16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799" y="1690688"/>
            <a:ext cx="4869590" cy="4355754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F74BA5B2-42F9-9EDD-C42C-986B84E14B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1218" y="602628"/>
            <a:ext cx="3817209" cy="294170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510F3BC-559B-C083-F5A7-AB9D59F183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5846" y="3950650"/>
            <a:ext cx="4867954" cy="209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9714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789992DE-93CC-D817-8C76-5FEE894068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826327"/>
              </p:ext>
            </p:extLst>
          </p:nvPr>
        </p:nvGraphicFramePr>
        <p:xfrm>
          <a:off x="774700" y="1690688"/>
          <a:ext cx="9916160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5120">
                  <a:extLst>
                    <a:ext uri="{9D8B030D-6E8A-4147-A177-3AD203B41FA5}">
                      <a16:colId xmlns:a16="http://schemas.microsoft.com/office/drawing/2014/main" val="793991559"/>
                    </a:ext>
                  </a:extLst>
                </a:gridCol>
                <a:gridCol w="3325775">
                  <a:extLst>
                    <a:ext uri="{9D8B030D-6E8A-4147-A177-3AD203B41FA5}">
                      <a16:colId xmlns:a16="http://schemas.microsoft.com/office/drawing/2014/main" val="1544809387"/>
                    </a:ext>
                  </a:extLst>
                </a:gridCol>
                <a:gridCol w="4995265">
                  <a:extLst>
                    <a:ext uri="{9D8B030D-6E8A-4147-A177-3AD203B41FA5}">
                      <a16:colId xmlns:a16="http://schemas.microsoft.com/office/drawing/2014/main" val="42439699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Category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Command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description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7275780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Query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QueryTag</a:t>
                      </a:r>
                      <a:endParaRPr lang="en-US" altLang="zh-C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Get device migration tag (t7)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514239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QueryBlockSize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Get granularity of image access (t10)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1334103"/>
                  </a:ext>
                </a:extLst>
              </a:tr>
              <a:tr h="370840">
                <a:tc rowSpan="7"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Device</a:t>
                      </a:r>
                    </a:p>
                    <a:p>
                      <a:pPr algn="ctr"/>
                      <a:r>
                        <a:rPr lang="en-US" altLang="zh-CN" dirty="0"/>
                        <a:t>Control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PreCopy</a:t>
                      </a:r>
                      <a:r>
                        <a:rPr lang="en-US" altLang="zh-CN" dirty="0"/>
                        <a:t>-Start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Enable pre-copy mode(t8)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611977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PreCopy</a:t>
                      </a:r>
                      <a:r>
                        <a:rPr lang="en-US" altLang="zh-CN" dirty="0"/>
                        <a:t>-Stop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Stop pre-copy if migration abort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829205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DevThrottle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Control dirty page rate of device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220727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Suspend-Active</a:t>
                      </a:r>
                      <a:endParaRPr lang="zh-CN" altLang="en-US" dirty="0"/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Switch to corresponding state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79316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Suspend-Passive</a:t>
                      </a:r>
                      <a:endParaRPr lang="zh-CN" alt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221838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Resume-Active</a:t>
                      </a:r>
                      <a:endParaRPr lang="zh-CN" alt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166870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Resume-Passive</a:t>
                      </a:r>
                      <a:endParaRPr lang="zh-CN" alt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1439509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Image </a:t>
                      </a:r>
                    </a:p>
                    <a:p>
                      <a:pPr algn="ctr"/>
                      <a:r>
                        <a:rPr lang="en-US" altLang="zh-CN" dirty="0"/>
                        <a:t>Access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ImageBlock</a:t>
                      </a:r>
                      <a:r>
                        <a:rPr lang="en-US" altLang="zh-CN" dirty="0"/>
                        <a:t>-Save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Get next image block from device (t10 &amp; t6)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97392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ImageBlock</a:t>
                      </a:r>
                      <a:r>
                        <a:rPr lang="en-US" altLang="zh-CN" dirty="0"/>
                        <a:t>-Load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Provide an image block to the device(t10 &amp; t6)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9931870"/>
                  </a:ext>
                </a:extLst>
              </a:tr>
            </a:tbl>
          </a:graphicData>
        </a:graphic>
      </p:graphicFrame>
      <p:sp>
        <p:nvSpPr>
          <p:cNvPr id="5" name="标题 1">
            <a:extLst>
              <a:ext uri="{FF2B5EF4-FFF2-40B4-BE49-F238E27FC236}">
                <a16:creationId xmlns:a16="http://schemas.microsoft.com/office/drawing/2014/main" id="{9E0D74B6-2001-9240-1D70-11FD77802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CN" dirty="0"/>
              <a:t>implementation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091518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4447D6-25AC-8DA2-80DE-B1183BEBD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evaluation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2E84874-6D49-0576-262A-4070B31690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888044"/>
            <a:ext cx="6804660" cy="281395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2846771-20DF-B6E4-F992-D7C1E72FCC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6860" y="3803136"/>
            <a:ext cx="10111740" cy="278944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C3037C3-FC1A-9391-8B0E-D4F43D0F09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2828" y="3732631"/>
            <a:ext cx="10174120" cy="282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776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D3DDE3-E258-D628-7EC0-9F5891308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discussion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0434B1-D662-8815-2AC0-12DAE24458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RDMA</a:t>
            </a:r>
            <a:r>
              <a:rPr lang="zh-CN" altLang="en-US" dirty="0"/>
              <a:t>最好能够支持硬件标脏</a:t>
            </a:r>
            <a:endParaRPr lang="en-US" altLang="zh-CN" dirty="0"/>
          </a:p>
          <a:p>
            <a:r>
              <a:rPr lang="zh-CN" altLang="en-US"/>
              <a:t>并没有实现真正意义上的链接</a:t>
            </a:r>
            <a:r>
              <a:rPr lang="zh-CN" altLang="en-US" dirty="0"/>
              <a:t>保持</a:t>
            </a:r>
          </a:p>
        </p:txBody>
      </p:sp>
    </p:spTree>
    <p:extLst>
      <p:ext uri="{BB962C8B-B14F-4D97-AF65-F5344CB8AC3E}">
        <p14:creationId xmlns:p14="http://schemas.microsoft.com/office/powerpoint/2010/main" val="16582664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583</TotalTime>
  <Words>2552</Words>
  <Application>Microsoft Office PowerPoint</Application>
  <PresentationFormat>宽屏</PresentationFormat>
  <Paragraphs>195</Paragraphs>
  <Slides>13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9" baseType="lpstr">
      <vt:lpstr>等线</vt:lpstr>
      <vt:lpstr>等线 Light</vt:lpstr>
      <vt:lpstr>Arial</vt:lpstr>
      <vt:lpstr>Roboto</vt:lpstr>
      <vt:lpstr>Wingdings</vt:lpstr>
      <vt:lpstr>Office 主题​​</vt:lpstr>
      <vt:lpstr>device assisted live migration of RDMA devices</vt:lpstr>
      <vt:lpstr>introduction</vt:lpstr>
      <vt:lpstr>background-RDMA</vt:lpstr>
      <vt:lpstr>background</vt:lpstr>
      <vt:lpstr>challenges</vt:lpstr>
      <vt:lpstr>design</vt:lpstr>
      <vt:lpstr>design</vt:lpstr>
      <vt:lpstr>design</vt:lpstr>
      <vt:lpstr>design</vt:lpstr>
      <vt:lpstr>implementation</vt:lpstr>
      <vt:lpstr>implementation</vt:lpstr>
      <vt:lpstr>evaluation</vt:lpstr>
      <vt:lpstr>discussion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cassius black</dc:creator>
  <cp:lastModifiedBy>cassius black</cp:lastModifiedBy>
  <cp:revision>20</cp:revision>
  <dcterms:created xsi:type="dcterms:W3CDTF">2025-11-03T08:23:30Z</dcterms:created>
  <dcterms:modified xsi:type="dcterms:W3CDTF">2025-11-05T04:29:15Z</dcterms:modified>
</cp:coreProperties>
</file>